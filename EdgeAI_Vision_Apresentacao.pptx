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73.834000000000003</c:v>
                </c:pt>
                <c:pt idx="1">
                  <c:v>68.34</c:v>
                </c:pt>
                <c:pt idx="2">
                  <c:v>72.792000000000002</c:v>
                </c:pt>
                <c:pt idx="3">
                  <c:v>69.079000000000008</c:v>
                </c:pt>
                <c:pt idx="4">
                  <c:v>72.423000000000002</c:v>
                </c:pt>
                <c:pt idx="5">
                  <c:v>74.177999999999997</c:v>
                </c:pt>
                <c:pt idx="6">
                  <c:v>78.352999999999994</c:v>
                </c:pt>
                <c:pt idx="7">
                  <c:v>78.155000000000001</c:v>
                </c:pt>
                <c:pt idx="8">
                  <c:v>79.066999999999993</c:v>
                </c:pt>
                <c:pt idx="9">
                  <c:v>78.837999999999994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73-4E15-B45E-723A1E3B8E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53.573000000000008</c:v>
                </c:pt>
                <c:pt idx="1">
                  <c:v>53.317</c:v>
                </c:pt>
                <c:pt idx="2">
                  <c:v>52.146999999999998</c:v>
                </c:pt>
                <c:pt idx="3">
                  <c:v>57.074000000000005</c:v>
                </c:pt>
                <c:pt idx="4">
                  <c:v>59.5</c:v>
                </c:pt>
                <c:pt idx="5">
                  <c:v>62.731000000000002</c:v>
                </c:pt>
                <c:pt idx="6">
                  <c:v>63.021000000000008</c:v>
                </c:pt>
                <c:pt idx="7">
                  <c:v>64.193999999999988</c:v>
                </c:pt>
                <c:pt idx="8">
                  <c:v>66.082999999999998</c:v>
                </c:pt>
                <c:pt idx="9">
                  <c:v>68.45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F73-4E15-B45E-723A1E3B8E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mAP50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57.916999999999994</c:v>
                </c:pt>
                <c:pt idx="1">
                  <c:v>56.821999999999996</c:v>
                </c:pt>
                <c:pt idx="2">
                  <c:v>57.438999999999993</c:v>
                </c:pt>
                <c:pt idx="3">
                  <c:v>60.319000000000003</c:v>
                </c:pt>
                <c:pt idx="4">
                  <c:v>63.143999999999998</c:v>
                </c:pt>
                <c:pt idx="5">
                  <c:v>66.935000000000002</c:v>
                </c:pt>
                <c:pt idx="6">
                  <c:v>67.94</c:v>
                </c:pt>
                <c:pt idx="7">
                  <c:v>69.799000000000007</c:v>
                </c:pt>
                <c:pt idx="8">
                  <c:v>71.311000000000007</c:v>
                </c:pt>
                <c:pt idx="9">
                  <c:v>72.86399999999999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F73-4E15-B45E-723A1E3B8E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pt-BR"/>
                  <a:t>Epoch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pt-BR"/>
                  <a:t>Percentual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6766560" cy="4572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400" b="1" i="0">
                <a:solidFill>
                  <a:srgbClr val="22D3EE"/>
                </a:solidFill>
                <a:latin typeface="Aptos"/>
              </a:rPr>
              <a:t>EdgeAI_Vision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132320" cy="12801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Da API funcionando
até a criação da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46120"/>
            <a:ext cx="6583680" cy="557076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600" b="0" i="0" dirty="0" err="1">
                <a:solidFill>
                  <a:srgbClr val="DBEAFE"/>
                </a:solidFill>
                <a:latin typeface="Aptos"/>
              </a:rPr>
              <a:t>Desconstruindo</a:t>
            </a:r>
            <a:r>
              <a:rPr sz="1600" b="0" i="0" dirty="0">
                <a:solidFill>
                  <a:srgbClr val="DBEAFE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DBEAFE"/>
                </a:solidFill>
                <a:latin typeface="Aptos"/>
              </a:rPr>
              <a:t>projeto</a:t>
            </a:r>
            <a:r>
              <a:rPr sz="1600" b="0" i="0" dirty="0">
                <a:solidFill>
                  <a:srgbClr val="DBEAFE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DBEAFE"/>
                </a:solidFill>
                <a:latin typeface="Aptos"/>
              </a:rPr>
              <a:t>Visão</a:t>
            </a:r>
            <a:r>
              <a:rPr sz="1600" b="0" i="0" dirty="0">
                <a:solidFill>
                  <a:srgbClr val="DBEAFE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DBEAFE"/>
                </a:solidFill>
                <a:latin typeface="Aptos"/>
              </a:rPr>
              <a:t>Computacional</a:t>
            </a:r>
            <a:r>
              <a:rPr sz="1600" b="0" i="0" dirty="0">
                <a:solidFill>
                  <a:srgbClr val="DBEAFE"/>
                </a:solidFill>
                <a:latin typeface="Aptos"/>
              </a:rPr>
              <a:t> de Borda
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640080"/>
            <a:ext cx="2926080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869680" y="1234440"/>
            <a:ext cx="1645920" cy="1920240"/>
          </a:xfrm>
          <a:prstGeom prst="rect">
            <a:avLst/>
          </a:prstGeom>
          <a:solidFill>
            <a:srgbClr val="22D3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0" y="1828800"/>
            <a:ext cx="548640" cy="731520"/>
          </a:xfrm>
          <a:prstGeom prst="ellipse">
            <a:avLst/>
          </a:prstGeom>
          <a:solidFill>
            <a:srgbClr val="122542"/>
          </a:solidFill>
          <a:ln>
            <a:solidFill>
              <a:srgbClr val="12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Nossa investigação começa pelo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Primeiro vemos a solução funcionando; depois abrimos cada camada.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91440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453895"/>
            <a:ext cx="320040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1 • O QUÊ?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47088"/>
            <a:ext cx="317296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Uma API recebe imagens e devolve detecções de EPIs.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3258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325880"/>
            <a:ext cx="91440" cy="14173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1453895"/>
            <a:ext cx="320040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ptos"/>
              </a:rPr>
              <a:t>2 • PRA QUÊ?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1847088"/>
            <a:ext cx="317296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Separar responsabilidades facilita testar, corrigir e evoluir.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3258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28431" y="1325880"/>
            <a:ext cx="91440" cy="14173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453895"/>
            <a:ext cx="320040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Aptos"/>
              </a:rPr>
              <a:t>3 • COMO?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47088"/>
            <a:ext cx="317296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Voltaremos da API ao treinamento e aos scripts criados com 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10607040" cy="6400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2200" b="1" i="0">
                <a:solidFill>
                  <a:srgbClr val="122542"/>
                </a:solidFill>
                <a:latin typeface="Aptos"/>
              </a:rPr>
              <a:t>O resultado final é uma cadeia de peças que trabalham juntas.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72000"/>
            <a:ext cx="173736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4608576"/>
            <a:ext cx="1664207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06040" y="4736592"/>
            <a:ext cx="39319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090672" y="4572000"/>
            <a:ext cx="1737360" cy="347472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27248" y="4608576"/>
            <a:ext cx="1664207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Inferência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73752" y="4736592"/>
            <a:ext cx="39319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358384" y="4572000"/>
            <a:ext cx="1737360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94960" y="4608576"/>
            <a:ext cx="1664207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ONNX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41464" y="4736592"/>
            <a:ext cx="39319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626096" y="4572000"/>
            <a:ext cx="1737360" cy="34747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62671" y="4608576"/>
            <a:ext cx="1664207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Treinamento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09176" y="4736592"/>
            <a:ext cx="393191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893808" y="4572000"/>
            <a:ext cx="1737360" cy="347472"/>
          </a:xfrm>
          <a:prstGeom prst="roundRect">
            <a:avLst/>
          </a:prstGeom>
          <a:solidFill>
            <a:srgbClr val="122542"/>
          </a:solidFill>
          <a:ln>
            <a:solidFill>
              <a:srgbClr val="12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30384" y="4608576"/>
            <a:ext cx="1664207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Antigravity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Etapa 1 — A API em funcionamento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O ponto de partida: uma aplicação acessível pela rede.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6400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6400800" cy="438912"/>
          </a:xfrm>
          <a:prstGeom prst="rect">
            <a:avLst/>
          </a:prstGeom>
          <a:solidFill>
            <a:srgbClr val="122542"/>
          </a:solidFill>
          <a:ln>
            <a:solidFill>
              <a:srgbClr val="12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417320"/>
            <a:ext cx="548640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http://raspberry-pi:8000/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56692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  <a:latin typeface="Aptos"/>
              </a:rPr>
              <a:t>{ "service": "EdgeAI_Vision API",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14600"/>
            <a:ext cx="53035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  <a:latin typeface="Aptos"/>
              </a:rPr>
              <a:t>"status": "online",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1800"/>
            <a:ext cx="53035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  <a:latin typeface="Aptos"/>
              </a:rPr>
              <a:t>"mock_mode": false,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429000"/>
            <a:ext cx="5303520" cy="7315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Aptos"/>
              </a:rPr>
              <a:t>"classes": ["pessoa", "capacete",
"colete", "luva", "oculos"]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846320"/>
            <a:ext cx="54864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Aptos"/>
              </a:rPr>
              <a:t>Exemplo de resposta esperada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417320"/>
            <a:ext cx="39776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98079" y="1417320"/>
            <a:ext cx="91440" cy="1188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99248" y="1545336"/>
            <a:ext cx="3657599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O QUÊ?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1938528"/>
            <a:ext cx="3630168" cy="6035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Serviço que recebe pedidos HTTP.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788920"/>
            <a:ext cx="39776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98079" y="2788920"/>
            <a:ext cx="91440" cy="1188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99248" y="2916936"/>
            <a:ext cx="3657599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ptos"/>
              </a:rPr>
              <a:t>PRA QUÊ?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3310127"/>
            <a:ext cx="3630168" cy="6035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Outro programa pede análise sem conhecer o modelo.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4160520"/>
            <a:ext cx="39776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79" y="4160520"/>
            <a:ext cx="91440" cy="11887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99248" y="4288536"/>
            <a:ext cx="3657599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Aptos"/>
              </a:rPr>
              <a:t>COMO?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4681728"/>
            <a:ext cx="3630168" cy="6035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Executada no Raspberry Pi, dentro de um container Docker.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69848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Aptos"/>
              </a:rPr>
              <a:t>mock_mode=false significa que a aplicação não deve responder com detecções simuladas.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Etapa 2 — Visão Computacional de Borda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A análise acontece perto de onde a imagem é capturada.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0574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874519" cy="3657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700" b="1" i="0">
                <a:solidFill>
                  <a:srgbClr val="2563EB"/>
                </a:solidFill>
                <a:latin typeface="Aptos"/>
              </a:rPr>
              <a:t>IMAGEM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783080" cy="5486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ptos"/>
              </a:rPr>
              <a:t>Câmera ou arquivo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554480"/>
            <a:ext cx="3657600" cy="1737360"/>
          </a:xfrm>
          <a:prstGeom prst="roundRect">
            <a:avLst/>
          </a:prstGeom>
          <a:solidFill>
            <a:srgbClr val="122542"/>
          </a:solidFill>
          <a:ln>
            <a:solidFill>
              <a:srgbClr val="12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79" y="1828800"/>
            <a:ext cx="3474720" cy="3657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700" b="1" i="0">
                <a:solidFill>
                  <a:srgbClr val="22D3EE"/>
                </a:solidFill>
                <a:latin typeface="Aptos"/>
              </a:rPr>
              <a:t>RASPBERRY 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331720"/>
            <a:ext cx="3383280" cy="5486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ptos"/>
              </a:rPr>
              <a:t>API + modelo ONNX analisam localmente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2743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2560320" cy="3657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700" b="1" i="0">
                <a:solidFill>
                  <a:srgbClr val="0D9488"/>
                </a:solidFill>
                <a:latin typeface="Aptos"/>
              </a:rPr>
              <a:t>DETECÇÕES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331720"/>
            <a:ext cx="2468880" cy="5486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ptos"/>
              </a:rPr>
              <a:t>classe • caixa • confiança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80360" y="2423160"/>
            <a:ext cx="7772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98079" y="2423160"/>
            <a:ext cx="731521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" y="38862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886200"/>
            <a:ext cx="91440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4014215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O QUÊ?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407408"/>
            <a:ext cx="308152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IA analisa imagens para localizar objetos.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8862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886200"/>
            <a:ext cx="91440" cy="14173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0288" y="4014215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ptos"/>
              </a:rPr>
              <a:t>PRA QUÊ?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407408"/>
            <a:ext cx="308152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Resposta rápida e menor dependência da nuvem.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8862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1000" y="3886200"/>
            <a:ext cx="91440" cy="14173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2168" y="4014215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Aptos"/>
              </a:rPr>
              <a:t>COMO?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4407408"/>
            <a:ext cx="308152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A imagem é enviada à API no dispositivo de borda.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69280"/>
            <a:ext cx="10698480" cy="3657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122542"/>
                </a:solidFill>
                <a:latin typeface="Aptos"/>
              </a:rPr>
              <a:t>Visão Computacional = técnicas para o computador interpretar imagens.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Etapa 3 — Dois endpoints, duas formas de 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Endpoint = endereço da API que executa uma função específica.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257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91440" cy="3337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499616"/>
            <a:ext cx="49377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POST /predict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92807"/>
            <a:ext cx="4910328" cy="275234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Aptos"/>
              </a:rPr>
              <a:t>O QUÊ? Devolve dados estruturados (JSON).
PRA QUÊ? Outro software usa classes, coordenadas e confiança.
COMO? Envia-se imagem numa requisição HTTP; a resposta é estruturada.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257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91440" cy="33375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499616"/>
            <a:ext cx="49377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ptos"/>
              </a:rPr>
              <a:t>POST /predict/image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892807"/>
            <a:ext cx="4910328" cy="275234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Aptos"/>
              </a:rPr>
              <a:t>O QUÊ? Devolve imagem com detecções desenhadas.
PRA QUÊ? Facilitar inspeção visual e demonstração.
COMO? A API processa e retorna a imagem anotada.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5166360"/>
            <a:ext cx="2057400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2416" y="5202936"/>
            <a:ext cx="1984248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JSON = dados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5166360"/>
            <a:ext cx="205740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94176" y="5202936"/>
            <a:ext cx="1984248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HTTP = comunicação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166360"/>
            <a:ext cx="2057400" cy="34747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7376" y="5202936"/>
            <a:ext cx="1984248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POST = enviar pedido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5166360"/>
            <a:ext cx="2057400" cy="347472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89136" y="5202936"/>
            <a:ext cx="1984248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Imagem anotada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ptos"/>
              </a:rPr>
              <a:t>A interface da API pode permanecer igual mesmo quando trocamos o modelo.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Etapa 4 — main.py: o porteiro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O arquivo principal recebe pedidos e encaminha o trabalho.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828800" cy="11430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645920" cy="594360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828800"/>
            <a:ext cx="1828800" cy="114300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2057400"/>
            <a:ext cx="1645920" cy="594360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main.py
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828800"/>
            <a:ext cx="1828800" cy="11430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79" y="2057400"/>
            <a:ext cx="1645920" cy="594360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inference.py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28800"/>
            <a:ext cx="1828800" cy="114300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2057400"/>
            <a:ext cx="1645920" cy="594360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Resposta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97480" y="2395728"/>
            <a:ext cx="384048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20640" y="2395728"/>
            <a:ext cx="384048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2395728"/>
            <a:ext cx="384048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3749039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749039"/>
            <a:ext cx="91440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877055"/>
            <a:ext cx="306324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O QUÊ?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70248"/>
            <a:ext cx="303580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Define rotas, valida pedidos e monta respostas.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749039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749039"/>
            <a:ext cx="91440" cy="14173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0288" y="3877055"/>
            <a:ext cx="306324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ptos"/>
              </a:rPr>
              <a:t>PRA QUÊ?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270248"/>
            <a:ext cx="303580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Separar comunicação da lógica de visão computacional.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749039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3749039"/>
            <a:ext cx="91440" cy="14173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3877055"/>
            <a:ext cx="306324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Aptos"/>
              </a:rPr>
              <a:t>COMO?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270248"/>
            <a:ext cx="303580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Recebe a imagem e chama o componente de inferência.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122542"/>
                </a:solidFill>
                <a:latin typeface="Aptos"/>
              </a:rPr>
              <a:t>FastAPI = ferramenta Python para construir APIs web.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Etapa 5 — inference.py: o especialista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Aqui a imagem é preparada, analisada e convertida em detecções.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55448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673352"/>
            <a:ext cx="566928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1600200" cy="5943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1" i="0">
                <a:solidFill>
                  <a:srgbClr val="122542"/>
                </a:solidFill>
                <a:latin typeface="Aptos"/>
              </a:rPr>
              <a:t>Imagem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1874519"/>
            <a:ext cx="6400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29000" y="1554480"/>
            <a:ext cx="566928" cy="566928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673352"/>
            <a:ext cx="566928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2286000"/>
            <a:ext cx="1600200" cy="5943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1" i="0">
                <a:solidFill>
                  <a:srgbClr val="122542"/>
                </a:solidFill>
                <a:latin typeface="Aptos"/>
              </a:rPr>
              <a:t>Pré-processamento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43400" y="1874519"/>
            <a:ext cx="640079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760720" y="1554480"/>
            <a:ext cx="566928" cy="56692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0" y="1673352"/>
            <a:ext cx="566928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286000"/>
            <a:ext cx="1600200" cy="5943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1" i="0">
                <a:solidFill>
                  <a:srgbClr val="122542"/>
                </a:solidFill>
                <a:latin typeface="Aptos"/>
              </a:rPr>
              <a:t>Modelo ONNX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75120" y="1874519"/>
            <a:ext cx="6400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092440" y="1554480"/>
            <a:ext cx="566928" cy="566928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92440" y="1673352"/>
            <a:ext cx="566928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286000"/>
            <a:ext cx="1600200" cy="5943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1" i="0">
                <a:solidFill>
                  <a:srgbClr val="122542"/>
                </a:solidFill>
                <a:latin typeface="Aptos"/>
              </a:rPr>
              <a:t>Pós-processamento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06840" y="1874519"/>
            <a:ext cx="640079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424160" y="1554480"/>
            <a:ext cx="566928" cy="5669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60" y="1673352"/>
            <a:ext cx="566928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286000"/>
            <a:ext cx="1600200" cy="5943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1" i="0">
                <a:solidFill>
                  <a:srgbClr val="122542"/>
                </a:solidFill>
                <a:latin typeface="Aptos"/>
              </a:rPr>
              <a:t>Detecções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3337560"/>
            <a:ext cx="91440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" y="3465576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O QUÊ?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3858768"/>
            <a:ext cx="308152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Código que executa a inferência — previsão do modelo.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89120" y="3337560"/>
            <a:ext cx="91440" cy="14173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90288" y="3465576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ptos"/>
              </a:rPr>
              <a:t>PRA QUÊ?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3858768"/>
            <a:ext cx="308152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Transformar pixels em classes, caixas e confiança.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92440" y="3337560"/>
            <a:ext cx="91440" cy="14173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93608" y="3465576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Aptos"/>
              </a:rPr>
              <a:t>COMO?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3858768"/>
            <a:ext cx="308152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Prepara entrada, roda modelo e filtra resultados.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257800"/>
            <a:ext cx="1060704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ptos"/>
              </a:rPr>
              <a:t>Pré-processamento = preparar a entrada. Pós-processamento = interpretar e filtrar a saída.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Etapa 6 — Docker: a caixa organizada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O ambiente é empacotado para executar de forma mais reproduzível.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91440" cy="1828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36776"/>
            <a:ext cx="30175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Dockerfile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9967"/>
            <a:ext cx="2990088" cy="12435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Aptos"/>
              </a:rPr>
              <a:t>Receita que define como montar o ambiente.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0520" y="2423160"/>
            <a:ext cx="4572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09160" y="150876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60" y="1508760"/>
            <a:ext cx="91440" cy="18288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0328" y="1636776"/>
            <a:ext cx="24231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Aptos"/>
              </a:rPr>
              <a:t>Imagem 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2029967"/>
            <a:ext cx="2395728" cy="12435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Aptos"/>
              </a:rPr>
              <a:t>Pacote criado a partir da receita.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43800" y="2423160"/>
            <a:ext cx="4572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92440" y="150876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508760"/>
            <a:ext cx="91440" cy="18288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1636776"/>
            <a:ext cx="30175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ptos"/>
              </a:rPr>
              <a:t>Container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029967"/>
            <a:ext cx="2990088" cy="12435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Aptos"/>
              </a:rPr>
              <a:t>Aplicação em execução com suas dependências.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931920"/>
            <a:ext cx="4754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3931920"/>
            <a:ext cx="91440" cy="13258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5568" y="4059935"/>
            <a:ext cx="443484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Aptos"/>
              </a:rPr>
              <a:t>docker-compose.yml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453128"/>
            <a:ext cx="4407408" cy="74066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Configuração para iniciar e ajustar o serviço.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931920"/>
            <a:ext cx="4754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3931920"/>
            <a:ext cx="91440" cy="1325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01968" y="4059935"/>
            <a:ext cx="443484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Por que usar?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453128"/>
            <a:ext cx="4407408" cy="74066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Facilita reproduzir, reiniciar e testar o ambiente.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69280"/>
            <a:ext cx="103327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ptos"/>
              </a:rPr>
              <a:t>Dependência = biblioteca ou componente de que a aplicação precisa.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Etapa 7 — ONNX: o modelo pronto para rodar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O arquivo de inferência é exportado a partir do checkpoint treinado.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5603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  <a:latin typeface="Aptos"/>
              </a:rPr>
              <a:t>best.pt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5603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ptos"/>
              </a:rPr>
              <a:t>pesos do melhor
checkpoint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4592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874519"/>
            <a:ext cx="25603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Aptos"/>
              </a:rPr>
              <a:t>Exportação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286000"/>
            <a:ext cx="25603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ptos"/>
              </a:rPr>
              <a:t>conversão de
formato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64592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1874519"/>
            <a:ext cx="25603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Aptos"/>
              </a:rPr>
              <a:t>best.onnx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286000"/>
            <a:ext cx="25603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ptos"/>
              </a:rPr>
              <a:t>modelo para
inferência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2377440"/>
            <a:ext cx="8686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2377440"/>
            <a:ext cx="7772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" y="37490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749039"/>
            <a:ext cx="91440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3877055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O QUÊ?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70248"/>
            <a:ext cx="308152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ONNX = formato aberto para representar modelos de 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7490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749039"/>
            <a:ext cx="91440" cy="14173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0288" y="3877055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ptos"/>
              </a:rPr>
              <a:t>PRA QUÊ?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270248"/>
            <a:ext cx="308152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Executar o modelo fora do ambiente de treinamento.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749039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1000" y="3749039"/>
            <a:ext cx="91440" cy="14173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2168" y="3877055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Aptos"/>
              </a:rPr>
              <a:t>COMO?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4270248"/>
            <a:ext cx="308152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Exporta-se checkpoint e configura-se inference.py.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577840"/>
            <a:ext cx="10424160" cy="3657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1" i="0">
                <a:solidFill>
                  <a:srgbClr val="122542"/>
                </a:solidFill>
                <a:latin typeface="Aptos"/>
              </a:rPr>
              <a:t>Checkpoint = arquivo que guarda os parâmetros aprendidos durante o treinamento.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Etapa 8 — O dataset: exemplos para aprender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Dataset = conjunto de imagens e anotações que ensina o modelo.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80160" y="1627632"/>
            <a:ext cx="640080" cy="6400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18288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PESSOA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182880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Aptos"/>
              </a:rPr>
              <a:t>corpo humano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79" y="146304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11879" y="1627632"/>
            <a:ext cx="640080" cy="64008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17520" y="2304288"/>
            <a:ext cx="18288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1" i="0">
                <a:solidFill>
                  <a:srgbClr val="F97316"/>
                </a:solidFill>
                <a:latin typeface="Aptos"/>
              </a:rPr>
              <a:t>CAPACETE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78608"/>
            <a:ext cx="182880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Aptos"/>
              </a:rPr>
              <a:t>cabeça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146304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943600" y="1627632"/>
            <a:ext cx="640080" cy="640080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49240" y="2304288"/>
            <a:ext cx="18288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Aptos"/>
              </a:rPr>
              <a:t>COLETE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578608"/>
            <a:ext cx="182880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Aptos"/>
              </a:rPr>
              <a:t>tronco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19" y="146304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75319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59" y="2304288"/>
            <a:ext cx="18288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Aptos"/>
              </a:rPr>
              <a:t>LUVA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2578608"/>
            <a:ext cx="182880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Aptos"/>
              </a:rPr>
              <a:t>mãos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146304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607040" y="1627632"/>
            <a:ext cx="640080" cy="64008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12680" y="2304288"/>
            <a:ext cx="18288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  <a:latin typeface="Aptos"/>
              </a:rPr>
              <a:t>ÓCULOS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578608"/>
            <a:ext cx="182880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Aptos"/>
              </a:rPr>
              <a:t>olhos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3337560"/>
            <a:ext cx="91440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8408" y="3465576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O QUÊ?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3858768"/>
            <a:ext cx="308152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Imagens + caixas que marcam onde está cada objeto.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89120" y="3337560"/>
            <a:ext cx="91440" cy="14173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90288" y="3465576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ptos"/>
              </a:rPr>
              <a:t>PRA QUÊ?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3858768"/>
            <a:ext cx="308152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Aprender padrões visuais das cinco classes.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01000" y="3337560"/>
            <a:ext cx="91440" cy="14173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02168" y="3465576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Aptos"/>
              </a:rPr>
              <a:t>COMO?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2168" y="3858768"/>
            <a:ext cx="308152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Dataset SH17 filtrado/organizado para as classes do projeto.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303520"/>
            <a:ext cx="10424160" cy="5943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122542"/>
                </a:solidFill>
                <a:latin typeface="Aptos"/>
              </a:rPr>
              <a:t>Qualidade, variedade e anotações corretas influenciam o que o modelo consegue aprender.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Etapa 9 — YOLO Small e o arquivo YAML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YOLO detecta objetos; YAML informa onde estão os dados e quais são as classes.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91440" cy="2057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499616"/>
            <a:ext cx="49377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YOLO 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92807"/>
            <a:ext cx="4910328" cy="14721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O QUÊ? Variante de tamanho small da família YOLO.
PRA QUÊ? Buscar equilíbrio entre capacidade de detecção e custo computacional.
COMO? Foi usado como modelo-base no novo treinamento.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91440" cy="20574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499616"/>
            <a:ext cx="49377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ptos"/>
              </a:rPr>
              <a:t>data.yaml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892807"/>
            <a:ext cx="4910328" cy="14721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O QUÊ? Arquivo de configuração dos dados.
PRA QUÊ? Declarar caminhos e nomes de classes.
COMO? Define treino/validação e mapeamento das 5 classes.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977639"/>
            <a:ext cx="2103120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6" y="4014215"/>
            <a:ext cx="2029967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YOLO = detector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977639"/>
            <a:ext cx="2103120" cy="34747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39896" y="4014215"/>
            <a:ext cx="2029967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YAML = configuração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977639"/>
            <a:ext cx="210312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7376" y="4014215"/>
            <a:ext cx="2029967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Small ≠ Nano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10332720" cy="7772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0" i="0">
                <a:solidFill>
                  <a:srgbClr val="334155"/>
                </a:solidFill>
                <a:latin typeface="Aptos"/>
              </a:rPr>
              <a:t>Nano costuma ser mais leve; Small é maior e pode aprender padrões mais complexos, mas tende a exigir mais recursos. O resultado deve ser medido no dispositivo-alvo.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Etapa 10 — Treinar por 10 epochs no Colab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Epoch = uma passagem completa do conjunto de treino pelo modelo.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2926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74320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900" b="1" i="0">
                <a:solidFill>
                  <a:srgbClr val="2563EB"/>
                </a:solidFill>
                <a:latin typeface="Aptos"/>
              </a:rPr>
              <a:t>Google Colab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2743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ptos"/>
              </a:rPr>
              <a:t>ambiente na nuvem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2148840"/>
            <a:ext cx="5943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09160" y="1508760"/>
            <a:ext cx="2926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1737360"/>
            <a:ext cx="274320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900" b="1" i="0">
                <a:solidFill>
                  <a:srgbClr val="7C3AED"/>
                </a:solidFill>
                <a:latin typeface="Aptos"/>
              </a:rPr>
              <a:t>NVIDIA T4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148840"/>
            <a:ext cx="2743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ptos"/>
              </a:rPr>
              <a:t>GPU gratuita*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2148840"/>
            <a:ext cx="594361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03920" y="1508760"/>
            <a:ext cx="2926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1737360"/>
            <a:ext cx="274320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900" b="1" i="0">
                <a:solidFill>
                  <a:srgbClr val="0D9488"/>
                </a:solidFill>
                <a:latin typeface="Aptos"/>
              </a:rPr>
              <a:t>10 epochs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148840"/>
            <a:ext cx="2743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ptos"/>
              </a:rPr>
              <a:t>10 passagens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337560"/>
            <a:ext cx="91440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3465576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O QUÊ?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858768"/>
            <a:ext cx="308152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Ajustar parâmetros internos com exemplos anotados.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337560"/>
            <a:ext cx="91440" cy="14173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0288" y="3465576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ptos"/>
              </a:rPr>
              <a:t>PRA QUÊ?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858768"/>
            <a:ext cx="308152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Reduzir erros e reconhecer objetos melhor.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3375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1000" y="3337560"/>
            <a:ext cx="91440" cy="14173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2168" y="3465576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Aptos"/>
              </a:rPr>
              <a:t>COMO?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3858768"/>
            <a:ext cx="3081528" cy="83210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Pipeline executada no Colab com GPU NVIDIA Tesla T4.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303520"/>
            <a:ext cx="10424160" cy="5943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Aptos"/>
              </a:rPr>
              <a:t>*Disponibilidade gratuita varia. Dez epochs são um experimento inicial, não garantia de desempenho ideal.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Etapa 11 — O que os resultados dizem?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Valores do results2.csv no epoch 10; cada métrica responde a uma pergunta diferente.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3317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700" b="1" i="0">
                <a:solidFill>
                  <a:srgbClr val="2563EB"/>
                </a:solidFill>
                <a:latin typeface="Aptos"/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2331720" cy="5486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2900" b="1" i="0">
                <a:solidFill>
                  <a:srgbClr val="122542"/>
                </a:solidFill>
                <a:latin typeface="Aptos"/>
              </a:rPr>
              <a:t>78.8%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743200"/>
            <a:ext cx="1965960" cy="164592"/>
          </a:xfrm>
          <a:prstGeom prst="round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0120" y="2743200"/>
            <a:ext cx="1549923" cy="1645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2240280" cy="5943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Aptos"/>
              </a:rPr>
              <a:t>Das detecções feitas, quantas estavam corretas?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41732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1645920"/>
            <a:ext cx="23317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700" b="1" i="0">
                <a:solidFill>
                  <a:srgbClr val="0D9488"/>
                </a:solidFill>
                <a:latin typeface="Aptos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57400"/>
            <a:ext cx="2331720" cy="5486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2900" b="1" i="0">
                <a:solidFill>
                  <a:srgbClr val="122542"/>
                </a:solidFill>
                <a:latin typeface="Aptos"/>
              </a:rPr>
              <a:t>68.5%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2743200"/>
            <a:ext cx="1965960" cy="164592"/>
          </a:xfrm>
          <a:prstGeom prst="round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840480" y="2743200"/>
            <a:ext cx="1345699" cy="164592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03320" y="3063240"/>
            <a:ext cx="2240280" cy="5943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Aptos"/>
              </a:rPr>
              <a:t>Dos objetos reais, quantos foram encontrados?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41732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59" y="1645920"/>
            <a:ext cx="23317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700" b="1" i="0">
                <a:solidFill>
                  <a:srgbClr val="7C3AED"/>
                </a:solidFill>
                <a:latin typeface="Aptos"/>
              </a:rPr>
              <a:t>mAP50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057400"/>
            <a:ext cx="2331720" cy="5486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2900" b="1" i="0">
                <a:solidFill>
                  <a:srgbClr val="122542"/>
                </a:solidFill>
                <a:latin typeface="Aptos"/>
              </a:rPr>
              <a:t>72.9%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743200"/>
            <a:ext cx="1965960" cy="164592"/>
          </a:xfrm>
          <a:prstGeom prst="round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20840" y="2743200"/>
            <a:ext cx="1432477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3063240"/>
            <a:ext cx="2240280" cy="5943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Aptos"/>
              </a:rPr>
              <a:t>Qualidade média com IoU de 0,50.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141732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19" y="1645920"/>
            <a:ext cx="23317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700" b="1" i="0">
                <a:solidFill>
                  <a:srgbClr val="F97316"/>
                </a:solidFill>
                <a:latin typeface="Aptos"/>
              </a:rPr>
              <a:t>mAP50–95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2057400"/>
            <a:ext cx="2331720" cy="5486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2900" b="1" i="0">
                <a:solidFill>
                  <a:srgbClr val="122542"/>
                </a:solidFill>
                <a:latin typeface="Aptos"/>
              </a:rPr>
              <a:t>50.9%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2743200"/>
            <a:ext cx="1965960" cy="164592"/>
          </a:xfrm>
          <a:prstGeom prst="round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01200" y="2743200"/>
            <a:ext cx="1001243" cy="16459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64040" y="3063240"/>
            <a:ext cx="2240280" cy="5943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Aptos"/>
              </a:rPr>
              <a:t>Média mais rigorosa em vários IoU.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343400"/>
            <a:ext cx="10607040" cy="4572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122542"/>
                </a:solidFill>
                <a:latin typeface="Aptos"/>
              </a:rPr>
              <a:t>IoU = medida de sobreposição entre a caixa prevista e a caixa correta.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983480"/>
            <a:ext cx="10607040" cy="7315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0" i="0">
                <a:solidFill>
                  <a:srgbClr val="334155"/>
                </a:solidFill>
                <a:latin typeface="Aptos"/>
              </a:rPr>
              <a:t>Não existe uma única “acurácia” que conte toda a história. Precision alta pode coexistir com objetos não encontrados; Recall ajuda a enxergar omissões.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A evolução ao longo das 10 epochs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O CSV mostra melhora gradual nas métricas selecionadas.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280160"/>
          <a:ext cx="7498079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508760"/>
            <a:ext cx="2880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58200" y="1508760"/>
            <a:ext cx="91440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59368" y="1636776"/>
            <a:ext cx="25603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Precision 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9368" y="2029967"/>
            <a:ext cx="2532888" cy="5577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Aptos"/>
              </a:rPr>
              <a:t>78.8%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834640"/>
            <a:ext cx="2880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58200" y="2834640"/>
            <a:ext cx="91440" cy="11430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59368" y="2962656"/>
            <a:ext cx="25603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ptos"/>
              </a:rPr>
              <a:t>Recall 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9368" y="3355848"/>
            <a:ext cx="2532888" cy="5577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Aptos"/>
              </a:rPr>
              <a:t>68.5%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4160520"/>
            <a:ext cx="2880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58200" y="4160520"/>
            <a:ext cx="91440" cy="1143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59368" y="4288536"/>
            <a:ext cx="25603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Aptos"/>
              </a:rPr>
              <a:t>mAP50 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4681728"/>
            <a:ext cx="2532888" cy="5577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Aptos"/>
              </a:rPr>
              <a:t>72.9%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Aptos"/>
              </a:rPr>
              <a:t>Melhora geral não garante que todas as classes funcionem bem em imagens reais.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Etapa 12 — last.pt e best.pt: dois registros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O treinamento pode guardar o estado mais recente e o estado com melhor avaliação.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5074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08760"/>
            <a:ext cx="91440" cy="2011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636776"/>
            <a:ext cx="47548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last.pt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29967"/>
            <a:ext cx="4727448" cy="142646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Aptos"/>
              </a:rPr>
              <a:t>O QUÊ? Checkpoint do fim da execução.
PRA QUÊ? Retomar o treinamento a partir do estado mais recente.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074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91440" cy="201168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636776"/>
            <a:ext cx="47548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ptos"/>
              </a:rPr>
              <a:t>best.pt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029967"/>
            <a:ext cx="4727448" cy="142646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Aptos"/>
              </a:rPr>
              <a:t>O QUÊ? Checkpoint considerado melhor segundo a métrica configurada.
PRA QUÊ? Candidato natural para exportar e implantar.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91840" y="3886200"/>
            <a:ext cx="219456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23560" y="3675887"/>
            <a:ext cx="475488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500" b="1" i="0">
                <a:solidFill>
                  <a:srgbClr val="F97316"/>
                </a:solidFill>
                <a:latin typeface="Aptos"/>
              </a:rPr>
              <a:t>best.pt → exportação → best.onnx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10424160" cy="7772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ptos"/>
              </a:rPr>
              <a:t>O CSV registra resultados por epoch. A confirmação de qual checkpoint foi selecionado depende da lógica de salvamento da pipeline.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Etapa 13 — A pipeline de treinamento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Pipeline = sequência organizada de tarefas que leva dos dados ao modelo exportado.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1600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41832" y="1508760"/>
            <a:ext cx="530352" cy="5303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18488"/>
            <a:ext cx="530352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103120"/>
            <a:ext cx="1371600" cy="731520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300" b="1" i="0">
                <a:solidFill>
                  <a:srgbClr val="122542"/>
                </a:solidFill>
                <a:latin typeface="Aptos"/>
              </a:rPr>
              <a:t>Preparar
dataset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39112" y="2542032"/>
            <a:ext cx="2743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59152" y="1828800"/>
            <a:ext cx="1600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889504" y="1508760"/>
            <a:ext cx="530352" cy="530352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9504" y="1618488"/>
            <a:ext cx="530352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103120"/>
            <a:ext cx="1371600" cy="731520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300" b="1" i="0">
                <a:solidFill>
                  <a:srgbClr val="122542"/>
                </a:solidFill>
                <a:latin typeface="Aptos"/>
              </a:rPr>
              <a:t>Ler YAML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86784" y="2542032"/>
            <a:ext cx="2743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06824" y="1828800"/>
            <a:ext cx="1600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37176" y="1508760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37176" y="1618488"/>
            <a:ext cx="530352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103120"/>
            <a:ext cx="1371600" cy="731520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300" b="1" i="0">
                <a:solidFill>
                  <a:srgbClr val="122542"/>
                </a:solidFill>
                <a:latin typeface="Aptos"/>
              </a:rPr>
              <a:t>Treinar
YOLO Small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34456" y="2542032"/>
            <a:ext cx="2743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54496" y="1828800"/>
            <a:ext cx="1600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784848" y="1508760"/>
            <a:ext cx="530352" cy="53035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84848" y="1618488"/>
            <a:ext cx="530352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103120"/>
            <a:ext cx="1371600" cy="731520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300" b="1" i="0">
                <a:solidFill>
                  <a:srgbClr val="122542"/>
                </a:solidFill>
                <a:latin typeface="Aptos"/>
              </a:rPr>
              <a:t>Avaliar
validação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82127" y="2542032"/>
            <a:ext cx="274321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202167" y="1828800"/>
            <a:ext cx="1600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732519" y="1508760"/>
            <a:ext cx="530352" cy="53035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19" y="1618488"/>
            <a:ext cx="530352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5" y="2103120"/>
            <a:ext cx="1371600" cy="731520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300" b="1" i="0">
                <a:solidFill>
                  <a:srgbClr val="122542"/>
                </a:solidFill>
                <a:latin typeface="Aptos"/>
              </a:rPr>
              <a:t>Salvar
.pt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29799" y="2542032"/>
            <a:ext cx="2743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149839" y="1828800"/>
            <a:ext cx="1600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680191" y="1508760"/>
            <a:ext cx="530352" cy="530352"/>
          </a:xfrm>
          <a:prstGeom prst="ellipse">
            <a:avLst/>
          </a:prstGeom>
          <a:solidFill>
            <a:srgbClr val="122542"/>
          </a:solidFill>
          <a:ln>
            <a:solidFill>
              <a:srgbClr val="12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80191" y="1618488"/>
            <a:ext cx="530352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9567" y="2103120"/>
            <a:ext cx="1371600" cy="731520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300" b="1" i="0">
                <a:solidFill>
                  <a:srgbClr val="122542"/>
                </a:solidFill>
                <a:latin typeface="Aptos"/>
              </a:rPr>
              <a:t>Exportar
.onnx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3977639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" y="3977639"/>
            <a:ext cx="91440" cy="13716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4105655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O QUÊ?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" y="4498848"/>
            <a:ext cx="3081528" cy="7863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Script que automatiza o ciclo de treinamento.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3977639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389120" y="3977639"/>
            <a:ext cx="91440" cy="13716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90288" y="4105655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ptos"/>
              </a:rPr>
              <a:t>PRA QUÊ?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0288" y="4498848"/>
            <a:ext cx="3081528" cy="7863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Repetir o processo com menos passos manuais.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0" y="3977639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01000" y="3977639"/>
            <a:ext cx="91440" cy="13716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02168" y="4105655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Aptos"/>
              </a:rPr>
              <a:t>COMO?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02168" y="4498848"/>
            <a:ext cx="3081528" cy="7863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Configuração + comandos + avaliação + exportação.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ptos"/>
              </a:rPr>
              <a:t>Automação não elimina revisão humana: confira dados, caminhos, logs e arquivos gerados.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Etapa 14 — Vibe coding com Google Antigravity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A pipeline foi criada com apoio de agente orientado por instruções do projeto.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91440" cy="1828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499616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Google Antigravity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92807"/>
            <a:ext cx="3081528" cy="12435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Aptos"/>
              </a:rPr>
              <a:t>Ambiente de desenvolvimento com agentes de IA que ajudam a planejar e editar arquivos.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91440" cy="18288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499616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Aptos"/>
              </a:rPr>
              <a:t>Skill.md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92807"/>
            <a:ext cx="3081528" cy="12435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Aptos"/>
              </a:rPr>
              <a:t>Arquivo de instruções: contexto, padrões, restrições e critérios para orientar o agente.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91440" cy="18288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499616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Aptos"/>
              </a:rPr>
              <a:t>Parâmetros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892807"/>
            <a:ext cx="3081528" cy="12435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Aptos"/>
              </a:rPr>
              <a:t>Requisitos e condições do projeto fornecidos para orientar a solução.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0520" y="2286000"/>
            <a:ext cx="1828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2286000"/>
            <a:ext cx="1828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3703320"/>
            <a:ext cx="10424160" cy="4572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600" b="1" i="0">
                <a:solidFill>
                  <a:srgbClr val="122542"/>
                </a:solidFill>
                <a:latin typeface="Aptos"/>
              </a:rPr>
              <a:t>Vibe coding = desenvolver descrevendo a intenção em linguagem natural e iterando com ajuda da 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389120"/>
            <a:ext cx="4937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4389120"/>
            <a:ext cx="91440" cy="1234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4517136"/>
            <a:ext cx="46177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O QUÊ?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910328"/>
            <a:ext cx="4590288" cy="64922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Usar um agente para acelerar a escrita da pipeline.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389120"/>
            <a:ext cx="4937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389120"/>
            <a:ext cx="91440" cy="12344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01968" y="4517136"/>
            <a:ext cx="46177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Aptos"/>
              </a:rPr>
              <a:t>COMO com responsabilidade?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910328"/>
            <a:ext cx="4590288" cy="64922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Aptos"/>
              </a:rPr>
              <a:t>Pedir, revisar, executar, ler erros e validar resultados.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O que o modelo já faz — e onde falha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O teste prático é tão importante quanto a métrica global.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91440" cy="18288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45336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2C55E"/>
                </a:solidFill>
                <a:latin typeface="Aptos"/>
              </a:rPr>
              <a:t>Já identifica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3081528" cy="12435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Aptos"/>
              </a:rPr>
              <a:t>• Pessoas
• Luvas
• Óculos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91440" cy="1828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545336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Aptos"/>
              </a:rPr>
              <a:t>Ainda precisa melhorar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38528"/>
            <a:ext cx="3081528" cy="12435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Aptos"/>
              </a:rPr>
              <a:t>• Confunde capacetes
• Ainda não identifica coletes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91440" cy="1828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545336"/>
            <a:ext cx="31089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O que isso ensina?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938528"/>
            <a:ext cx="3081528" cy="1243584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Aptos"/>
              </a:rPr>
              <a:t>Métricas gerais podem esconder dificuldades específicas por classe.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57600"/>
            <a:ext cx="10424160" cy="3657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600" b="1" i="0">
                <a:solidFill>
                  <a:srgbClr val="122542"/>
                </a:solidFill>
                <a:latin typeface="Aptos"/>
              </a:rPr>
              <a:t>Hipóteses a investigar (não conclusões):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10241280" cy="1371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Aptos"/>
              </a:rPr>
              <a:t>• Poucos exemplos ou variedade insuficiente de capacetes/coletes.
• Anotações inconsistentes, objetos pequenos, oclusão ou iluminação difícil.
• Confusão entre classes ou diferença entre treino e cenário real.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Próximas melhorias: plano de investigação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Cada melhoria deve ser testada com evidências, não apenas por tentativa.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10652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35607"/>
            <a:ext cx="205740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ptos"/>
              </a:rPr>
              <a:t>1 •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417320"/>
            <a:ext cx="8183879" cy="43891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Revisar quantidade, diversidade e qualidade das anotações.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85415"/>
            <a:ext cx="10652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295144"/>
            <a:ext cx="205740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Aptos"/>
              </a:rPr>
              <a:t>2 • Métricas por classe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276856"/>
            <a:ext cx="8183879" cy="43891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Inspecionar matriz de confusão, Precision e Recall por classe.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44952"/>
            <a:ext cx="10652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154680"/>
            <a:ext cx="205740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Aptos"/>
              </a:rPr>
              <a:t>3 • Treinamento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136392"/>
            <a:ext cx="8183879" cy="43891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Comparar mais epochs e hiperparâmetros; “mais” nem sempre é melhor.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04487"/>
            <a:ext cx="10652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014215"/>
            <a:ext cx="205740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Aptos"/>
              </a:rPr>
              <a:t>4 • Imagens reais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995927"/>
            <a:ext cx="8183879" cy="43891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Criar teste independente com luz, distância e ângulos variados.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64024"/>
            <a:ext cx="10652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873752"/>
            <a:ext cx="205740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Aptos"/>
              </a:rPr>
              <a:t>5 • Implantação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855464"/>
            <a:ext cx="8183879" cy="43891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Aptos"/>
              </a:rPr>
              <a:t>Medir latência, memória e estabilidade do YOLO Small no Raspberry Pi.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400" b="1" i="0">
                <a:solidFill>
                  <a:srgbClr val="122542"/>
                </a:solidFill>
                <a:latin typeface="Aptos"/>
              </a:rPr>
              <a:t>Meta: melhorar a detecção sem perder velocidade e viabilidade na borda.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Fechamento — a cadeia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Do resultado demonstrável à origem do modelo.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141732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5" y="1865376"/>
            <a:ext cx="1344168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Cliente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55648" y="2002536"/>
            <a:ext cx="21031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11680" y="1828800"/>
            <a:ext cx="1417320" cy="347472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48256" y="1865376"/>
            <a:ext cx="1344168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Endpoints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47288" y="2002536"/>
            <a:ext cx="21031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03320" y="1828800"/>
            <a:ext cx="1417320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9896" y="1865376"/>
            <a:ext cx="1344168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main.py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38928" y="2002536"/>
            <a:ext cx="21031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94960" y="1828800"/>
            <a:ext cx="1417320" cy="34747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31536" y="1865376"/>
            <a:ext cx="1344168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inference.py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30568" y="2002536"/>
            <a:ext cx="21031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86600" y="1828800"/>
            <a:ext cx="1417320" cy="34747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23176" y="1865376"/>
            <a:ext cx="1344168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ONNX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22208" y="2002536"/>
            <a:ext cx="21031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778240" y="1828800"/>
            <a:ext cx="141732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14815" y="1865376"/>
            <a:ext cx="1344168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Treino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13848" y="2002536"/>
            <a:ext cx="21031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469880" y="1828800"/>
            <a:ext cx="1417320" cy="347472"/>
          </a:xfrm>
          <a:prstGeom prst="roundRect">
            <a:avLst/>
          </a:prstGeom>
          <a:solidFill>
            <a:srgbClr val="122542"/>
          </a:solidFill>
          <a:ln>
            <a:solidFill>
              <a:srgbClr val="12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06456" y="1865376"/>
            <a:ext cx="1344168" cy="25603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Antigravity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2880360"/>
            <a:ext cx="10424160" cy="6400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2200" b="1" i="0">
                <a:solidFill>
                  <a:srgbClr val="122542"/>
                </a:solidFill>
                <a:latin typeface="Aptos"/>
              </a:rPr>
              <a:t>Pergunta para a turma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657600"/>
            <a:ext cx="9966960" cy="8229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2000" b="0" i="0">
                <a:solidFill>
                  <a:srgbClr val="334155"/>
                </a:solidFill>
                <a:latin typeface="Aptos"/>
              </a:rPr>
              <a:t>Se treinarmos um modelo melhor, precisamos mudar os clientes da API?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4800600"/>
            <a:ext cx="8503920" cy="822960"/>
          </a:xfrm>
          <a:prstGeom prst="roundRect">
            <a:avLst/>
          </a:prstGeom>
          <a:solidFill>
            <a:srgbClr val="DCFCE7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57400" y="5001768"/>
            <a:ext cx="804672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/>
            <a:r>
              <a:rPr sz="1500" b="1" i="0">
                <a:solidFill>
                  <a:srgbClr val="166534"/>
                </a:solidFill>
                <a:latin typeface="Aptos"/>
              </a:rPr>
              <a:t>Resposta: não, se endpoints e formato das respostas continuarem compatíveis.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06424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2500" b="1" i="0">
                <a:solidFill>
                  <a:srgbClr val="122542"/>
                </a:solidFill>
                <a:latin typeface="Aptos"/>
              </a:rPr>
              <a:t>Mini glossário para acompanhar a aula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Termos que apareceram ao longo da apresentação.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87552"/>
            <a:ext cx="1143000" cy="5029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4572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EdgeAI_Vision • YOLO Small •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257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64592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tos"/>
              </a:rP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289304"/>
            <a:ext cx="3291840" cy="47548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Interface para programas se comunicarem.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5257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307592"/>
            <a:ext cx="164592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tos"/>
              </a:rPr>
              <a:t>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289304"/>
            <a:ext cx="3291840" cy="47548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Endereço/função específica dentro da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984248"/>
            <a:ext cx="5257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057400"/>
            <a:ext cx="164592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tos"/>
              </a:rPr>
              <a:t>Inferência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039112"/>
            <a:ext cx="3291840" cy="47548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Uso do modelo treinado para fazer previsão.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984248"/>
            <a:ext cx="5257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057400"/>
            <a:ext cx="164592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tos"/>
              </a:rPr>
              <a:t>YOLO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039112"/>
            <a:ext cx="3291840" cy="47548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Família de modelos para detectar objetos.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734056"/>
            <a:ext cx="5257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807208"/>
            <a:ext cx="164592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tos"/>
              </a:rPr>
              <a:t>ONNX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788920"/>
            <a:ext cx="3291840" cy="47548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Formato portátil para modelos de 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734056"/>
            <a:ext cx="5257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2807208"/>
            <a:ext cx="164592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tos"/>
              </a:rPr>
              <a:t>Epoch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788920"/>
            <a:ext cx="3291840" cy="47548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Uma passagem completa pelo conjunto de treino.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483864"/>
            <a:ext cx="5257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557016"/>
            <a:ext cx="164592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tos"/>
              </a:rPr>
              <a:t>Dataset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538728"/>
            <a:ext cx="3291840" cy="47548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Conjunto de imagens e anotações.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483864"/>
            <a:ext cx="5257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3557016"/>
            <a:ext cx="164592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tos"/>
              </a:rPr>
              <a:t>YAML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538728"/>
            <a:ext cx="3291840" cy="47548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Formato de texto para configuração.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233672"/>
            <a:ext cx="5257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306824"/>
            <a:ext cx="164592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tos"/>
              </a:rPr>
              <a:t>Precision / Recall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4288536"/>
            <a:ext cx="3291840" cy="47548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Acertos entre detecções / objetos reais encontrados.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233672"/>
            <a:ext cx="5257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4306824"/>
            <a:ext cx="164592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tos"/>
              </a:rPr>
              <a:t>mAP / IoU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288536"/>
            <a:ext cx="3291840" cy="47548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Qualidade média / sobreposição das caixas.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983479"/>
            <a:ext cx="5257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5056631"/>
            <a:ext cx="164592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tos"/>
              </a:rPr>
              <a:t>Checkpoint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5038343"/>
            <a:ext cx="3291840" cy="47548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Arquivo com parâmetros aprendidos.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983479"/>
            <a:ext cx="5257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5056631"/>
            <a:ext cx="164592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tos"/>
              </a:rPr>
              <a:t>GPU / T4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5038343"/>
            <a:ext cx="3291840" cy="47548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Processador de cálculos paralelos / modelo NVIDIA.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733288"/>
            <a:ext cx="5257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" y="5806440"/>
            <a:ext cx="1645920" cy="4114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tos"/>
              </a:rPr>
              <a:t>Vibe coding / Skill.md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5788151"/>
            <a:ext cx="3291840" cy="47548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Aptos"/>
              </a:rPr>
              <a:t>Programar com IA / instruções para o agente.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2112</Words>
  <Application>Microsoft Office PowerPoint</Application>
  <PresentationFormat>Widescreen</PresentationFormat>
  <Paragraphs>334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PETERSON GOMES DE MOURA BARROS</cp:lastModifiedBy>
  <cp:revision>2</cp:revision>
  <dcterms:created xsi:type="dcterms:W3CDTF">2013-01-27T09:14:16Z</dcterms:created>
  <dcterms:modified xsi:type="dcterms:W3CDTF">2026-10-19T17:31:09Z</dcterms:modified>
  <cp:category/>
</cp:coreProperties>
</file>